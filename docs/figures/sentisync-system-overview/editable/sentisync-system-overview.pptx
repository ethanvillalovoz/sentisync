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aba51fd4a4d8b" /><Relationship Type="http://schemas.openxmlformats.org/officeDocument/2006/relationships/extended-properties" Target="/docProps/app.xml" Id="R93679077956546ed" /><Relationship Type="http://schemas.openxmlformats.org/officeDocument/2006/relationships/officeDocument" Target="/ppt/presentation.xml" Id="Rfc7c3a809ead49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f295c69634e1e"/>
  </p:sldMasterIdLst>
  <p:notesMasterIdLst>
    <p:notesMasterId xmlns:r="http://schemas.openxmlformats.org/officeDocument/2006/relationships" r:id="R0d52d484376c4b33"/>
  </p:notesMasterIdLst>
  <p:sldIdLst>
    <p:sldId xmlns:r="http://schemas.openxmlformats.org/officeDocument/2006/relationships" id="256" r:id="Rcabff49360c24b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7275d0dff44d47" /><Relationship Type="http://schemas.openxmlformats.org/officeDocument/2006/relationships/slideMaster" Target="/ppt/slideMasters/slideMaster1.xml" Id="R742f295c69634e1e" /><Relationship Type="http://schemas.openxmlformats.org/officeDocument/2006/relationships/notesMaster" Target="/ppt/notesMasters/notesMaster1.xml" Id="R0d52d484376c4b33" /><Relationship Type="http://schemas.openxmlformats.org/officeDocument/2006/relationships/presProps" Target="/ppt/presProps.xml" Id="R0b510d19f3574439" /><Relationship Type="http://schemas.openxmlformats.org/officeDocument/2006/relationships/tableStyles" Target="/ppt/tableStyles.xml" Id="R8ab7f53b19884226" /><Relationship Type="http://schemas.openxmlformats.org/officeDocument/2006/relationships/slide" Target="/ppt/slides/slide1.xml" Id="Rcabff49360c24b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375be4db0747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e530627974534" /><Relationship Type="http://schemas.openxmlformats.org/officeDocument/2006/relationships/notesMaster" Target="/ppt/notesMasters/notesMaster1.xml" Id="Re61470c7a704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270c355474a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656af58c8a4ee9" /><Relationship Type="http://schemas.openxmlformats.org/officeDocument/2006/relationships/slideLayout" Target="/ppt/slideLayouts/slideLayout1.xml" Id="R6298ee3442d4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8ee3442d4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f6e63f8d54b18" /><Relationship Type="http://schemas.openxmlformats.org/officeDocument/2006/relationships/image" Target="/ppt/media/image.png" Id="R635a8d8a191741e7" /><Relationship Type="http://schemas.openxmlformats.org/officeDocument/2006/relationships/image" Target="/ppt/media/image2.png" Id="R42f4556a06044d18" /><Relationship Type="http://schemas.openxmlformats.org/officeDocument/2006/relationships/notesSlide" Target="/ppt/notesSlides/notesSlide1.xml" Id="Ra4163fc6ee82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6DC397B6-BCC1-44D8-8433-D4B04F8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1B"/>
                </a:solidFill>
              </a:defRPr>
            </a:pPr>
            <a:r>
              <a:rPr sz="2400" b="1">
                <a:solidFill>
                  <a:srgbClr val="17201B"/>
                </a:solidFill>
              </a:rPr>
              <a:t>SentiSync exposes the comments behind every aggregate signal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4EED47E1-B28C-418C-9B27-A6A2C5A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6B"/>
                </a:solidFill>
              </a:defRPr>
            </a:pPr>
            <a:r>
              <a:rPr sz="1275" b="0">
                <a:solidFill>
                  <a:srgbClr val="68716B"/>
                </a:solidFill>
              </a:rPr>
              <a:t>The live path stays compact; the offline path records where the model came from.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A25AA1-6247-40E1-80FE-A0754FE7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201B"/>
            </a:solidFill>
            <a:prstDash val="solid"/>
          </a:ln>
        </p:spPr>
      </p:sp>
      <p:sp>
        <p:nvSpPr>
          <p:cNvPr id="4" name="live-lane-label">
            <a:extLst xmlns:a="http://schemas.openxmlformats.org/drawingml/2006/main">
              <a:ext uri="{FF2B5EF4-FFF2-40B4-BE49-F238E27FC236}">
                <a16:creationId xmlns:a16="http://schemas.microsoft.com/office/drawing/2014/main" id="{DE54D333-C687-4953-AEBF-A67CE55F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LIVE INFERENCE</a:t>
            </a:r>
          </a:p>
        </p:txBody>
      </p:sp>
      <p:sp>
        <p:nvSpPr>
          <p:cNvPr id="5" name="overview-label">
            <a:extLst xmlns:a="http://schemas.openxmlformats.org/drawingml/2006/main">
              <a:ext uri="{FF2B5EF4-FFF2-40B4-BE49-F238E27FC236}">
                <a16:creationId xmlns:a16="http://schemas.microsoft.com/office/drawing/2014/main" id="{67C365C3-5770-420F-B58D-B7AACE05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38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EXTENSION OVERVIEW</a:t>
            </a:r>
          </a:p>
        </p:txBody>
      </p:sp>
      <p:sp>
        <p:nvSpPr>
          <p:cNvPr id="6" name="comments-label">
            <a:extLst xmlns:a="http://schemas.openxmlformats.org/drawingml/2006/main">
              <a:ext uri="{FF2B5EF4-FFF2-40B4-BE49-F238E27FC236}">
                <a16:creationId xmlns:a16="http://schemas.microsoft.com/office/drawing/2014/main" id="{46B9EE57-623A-43FF-B7E5-63B2A62C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382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7A4D"/>
                </a:solidFill>
              </a:defRPr>
            </a:pPr>
            <a:r>
              <a:rPr sz="1050" b="1">
                <a:solidFill>
                  <a:srgbClr val="1F7A4D"/>
                </a:solidFill>
              </a:rPr>
              <a:t>COMMENT-LEVEL EVIDENCE</a:t>
            </a:r>
          </a:p>
        </p:txBody>
      </p:sp>
      <p:sp>
        <p:nvSpPr>
          <p:cNvPr id="7" name="youtube-comments">
            <a:extLst xmlns:a="http://schemas.openxmlformats.org/drawingml/2006/main">
              <a:ext uri="{FF2B5EF4-FFF2-40B4-BE49-F238E27FC236}">
                <a16:creationId xmlns:a16="http://schemas.microsoft.com/office/drawing/2014/main" id="{F0994A7D-0CE8-436E-9CB4-1CC3041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428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CEC9"/>
            </a:solidFill>
            <a:prstDash val="solid"/>
          </a:ln>
        </p:spPr>
      </p:sp>
      <p:sp>
        <p:nvSpPr>
          <p:cNvPr id="8" name="youtube-comments-accent">
            <a:extLst xmlns:a="http://schemas.openxmlformats.org/drawingml/2006/main">
              <a:ext uri="{FF2B5EF4-FFF2-40B4-BE49-F238E27FC236}">
                <a16:creationId xmlns:a16="http://schemas.microsoft.com/office/drawing/2014/main" id="{842C804A-3E65-4E1E-BDD3-A99F39A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youtube-comments-label">
            <a:extLst xmlns:a="http://schemas.openxmlformats.org/drawingml/2006/main">
              <a:ext uri="{FF2B5EF4-FFF2-40B4-BE49-F238E27FC236}">
                <a16:creationId xmlns:a16="http://schemas.microsoft.com/office/drawing/2014/main" id="{C24CF81C-64F0-4CEE-AE8C-DC2D7501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B"/>
                </a:solidFill>
              </a:defRPr>
            </a:pPr>
            <a:r>
              <a:rPr sz="1425" b="1">
                <a:solidFill>
                  <a:srgbClr val="17201B"/>
                </a:solidFill>
              </a:rPr>
              <a:t>YouTube</a:t>
            </a:r>
          </a:p>
        </p:txBody>
      </p:sp>
      <p:sp>
        <p:nvSpPr>
          <p:cNvPr id="10" name="youtube-comments-detail">
            <a:extLst xmlns:a="http://schemas.openxmlformats.org/drawingml/2006/main">
              <a:ext uri="{FF2B5EF4-FFF2-40B4-BE49-F238E27FC236}">
                <a16:creationId xmlns:a16="http://schemas.microsoft.com/office/drawing/2014/main" id="{207618E9-6984-4496-9382-D8D4CBB0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14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</a:defRPr>
            </a:pPr>
            <a:r>
              <a:rPr sz="1125" b="0">
                <a:solidFill>
                  <a:srgbClr val="68716B"/>
                </a:solidFill>
              </a:rPr>
              <a:t>validated video ID</a:t>
            </a:r>
          </a:p>
        </p:txBody>
      </p:sp>
      <p:sp>
        <p:nvSpPr>
          <p:cNvPr id="11" name="flask-api">
            <a:extLst xmlns:a="http://schemas.openxmlformats.org/drawingml/2006/main">
              <a:ext uri="{FF2B5EF4-FFF2-40B4-BE49-F238E27FC236}">
                <a16:creationId xmlns:a16="http://schemas.microsoft.com/office/drawing/2014/main" id="{CCE7BD72-E59C-4FE8-9F5A-73AA549C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62100"/>
            <a:ext cx="1428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9CEC9"/>
            </a:solidFill>
            <a:prstDash val="solid"/>
          </a:ln>
        </p:spPr>
      </p:sp>
      <p:sp>
        <p:nvSpPr>
          <p:cNvPr id="12" name="flask-api-accent">
            <a:extLst xmlns:a="http://schemas.openxmlformats.org/drawingml/2006/main">
              <a:ext uri="{FF2B5EF4-FFF2-40B4-BE49-F238E27FC236}">
                <a16:creationId xmlns:a16="http://schemas.microsoft.com/office/drawing/2014/main" id="{B32640C4-67F7-4EE1-9627-5F105EF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6210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ask-api-label">
            <a:extLst xmlns:a="http://schemas.openxmlformats.org/drawingml/2006/main">
              <a:ext uri="{FF2B5EF4-FFF2-40B4-BE49-F238E27FC236}">
                <a16:creationId xmlns:a16="http://schemas.microsoft.com/office/drawing/2014/main" id="{999E0505-39F4-4A36-A7D4-1885F61A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76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B"/>
                </a:solidFill>
              </a:defRPr>
            </a:pPr>
            <a:r>
              <a:rPr sz="1425" b="1">
                <a:solidFill>
                  <a:srgbClr val="17201B"/>
                </a:solidFill>
              </a:rPr>
              <a:t>Flask API</a:t>
            </a:r>
          </a:p>
        </p:txBody>
      </p:sp>
      <p:sp>
        <p:nvSpPr>
          <p:cNvPr id="14" name="flask-api-detail">
            <a:extLst xmlns:a="http://schemas.openxmlformats.org/drawingml/2006/main">
              <a:ext uri="{FF2B5EF4-FFF2-40B4-BE49-F238E27FC236}">
                <a16:creationId xmlns:a16="http://schemas.microsoft.com/office/drawing/2014/main" id="{E8766615-83CC-40CC-B3A8-08FAB2C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3600"/>
            <a:ext cx="114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</a:defRPr>
            </a:pPr>
            <a:r>
              <a:rPr sz="1125" b="0">
                <a:solidFill>
                  <a:srgbClr val="68716B"/>
                </a:solidFill>
              </a:rPr>
              <a:t>≤500 comments</a:t>
            </a:r>
          </a:p>
        </p:txBody>
      </p:sp>
      <p:sp>
        <p:nvSpPr>
          <p:cNvPr id="15" name="local-classifier">
            <a:extLst xmlns:a="http://schemas.openxmlformats.org/drawingml/2006/main">
              <a:ext uri="{FF2B5EF4-FFF2-40B4-BE49-F238E27FC236}">
                <a16:creationId xmlns:a16="http://schemas.microsoft.com/office/drawing/2014/main" id="{0FC23E76-989D-4CD5-8090-A7B059E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383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3EFE8"/>
          </a:solidFill>
          <a:ln xmlns:a="http://schemas.openxmlformats.org/drawingml/2006/main" w="11906">
            <a:solidFill>
              <a:srgbClr val="C9CEC9"/>
            </a:solidFill>
            <a:prstDash val="solid"/>
          </a:ln>
        </p:spPr>
      </p:sp>
      <p:sp>
        <p:nvSpPr>
          <p:cNvPr id="16" name="local-classifier-accent">
            <a:extLst xmlns:a="http://schemas.openxmlformats.org/drawingml/2006/main">
              <a:ext uri="{FF2B5EF4-FFF2-40B4-BE49-F238E27FC236}">
                <a16:creationId xmlns:a16="http://schemas.microsoft.com/office/drawing/2014/main" id="{4BB17EDC-0DEA-46B7-8415-41E4FFBF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cal-classifier-label">
            <a:extLst xmlns:a="http://schemas.openxmlformats.org/drawingml/2006/main">
              <a:ext uri="{FF2B5EF4-FFF2-40B4-BE49-F238E27FC236}">
                <a16:creationId xmlns:a16="http://schemas.microsoft.com/office/drawing/2014/main" id="{88609C5A-E9DD-4AC8-9388-3A3EE01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B"/>
                </a:solidFill>
              </a:defRPr>
            </a:pPr>
            <a:r>
              <a:rPr sz="1425" b="1">
                <a:solidFill>
                  <a:srgbClr val="17201B"/>
                </a:solidFill>
              </a:rPr>
              <a:t>Local classifier</a:t>
            </a:r>
          </a:p>
        </p:txBody>
      </p:sp>
      <p:sp>
        <p:nvSpPr>
          <p:cNvPr id="18" name="local-classifier-detail">
            <a:extLst xmlns:a="http://schemas.openxmlformats.org/drawingml/2006/main">
              <a:ext uri="{FF2B5EF4-FFF2-40B4-BE49-F238E27FC236}">
                <a16:creationId xmlns:a16="http://schemas.microsoft.com/office/drawing/2014/main" id="{68ED0E99-EB27-4F2B-AA52-DEFDFC2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6B"/>
                </a:solidFill>
              </a:defRPr>
            </a:pPr>
            <a:r>
              <a:rPr sz="1125" b="0">
                <a:solidFill>
                  <a:srgbClr val="68716B"/>
                </a:solidFill>
              </a:rPr>
              <a:t>TF-IDF + LightGBM</a:t>
            </a:r>
          </a:p>
        </p:txBody>
      </p:sp>
      <p:sp>
        <p:nvSpPr>
          <p:cNvPr id="19" name="overview-frame">
            <a:extLst xmlns:a="http://schemas.openxmlformats.org/drawingml/2006/main">
              <a:ext uri="{FF2B5EF4-FFF2-40B4-BE49-F238E27FC236}">
                <a16:creationId xmlns:a16="http://schemas.microsoft.com/office/drawing/2014/main" id="{CDDB5617-2566-4070-A86B-374DCE40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04950"/>
            <a:ext cx="2381250" cy="34861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BD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8d8a191741e7"/>
          <a:stretch xmlns:a="http://schemas.openxmlformats.org/drawingml/2006/main"/>
        </p:blipFill>
        <p:spPr>
          <a:xfrm xmlns:a="http://schemas.openxmlformats.org/drawingml/2006/main">
            <a:off x="6107010" y="1562100"/>
            <a:ext cx="2263981" cy="3314700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21" name="comments-frame">
            <a:extLst xmlns:a="http://schemas.openxmlformats.org/drawingml/2006/main">
              <a:ext uri="{FF2B5EF4-FFF2-40B4-BE49-F238E27FC236}">
                <a16:creationId xmlns:a16="http://schemas.microsoft.com/office/drawing/2014/main" id="{59DD0169-C3A9-481E-8AAD-6DA8F31E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04950"/>
            <a:ext cx="2619375" cy="3486150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BD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4556a06044d18"/>
          <a:srcRect xmlns:a="http://schemas.openxmlformats.org/drawingml/2006/main" l="0" t="853" r="0" b="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1562100"/>
            <a:ext cx="2505075" cy="3314700"/>
          </a:xfrm>
          <a:prstGeom xmlns:a="http://schemas.openxmlformats.org/drawingml/2006/main" prst="roundRect">
            <a:avLst>
              <a:gd name="adj" fmla="val 4563"/>
            </a:avLst>
          </a:prstGeom>
        </p:spPr>
      </p:pic>
      <p:sp>
        <p:nvSpPr>
          <p:cNvPr id="23" name="overview-live-anchor">
            <a:extLst xmlns:a="http://schemas.openxmlformats.org/drawingml/2006/main">
              <a:ext uri="{FF2B5EF4-FFF2-40B4-BE49-F238E27FC236}">
                <a16:creationId xmlns:a16="http://schemas.microsoft.com/office/drawing/2014/main" id="{52548857-9E5B-4AA0-9E7F-6460ACF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828800" y="2057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1F7A4D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543300" y="2057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1F7A4D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5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5467350" y="2057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1F7A4D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29625" y="324802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17201B"/>
            </a:solidFill>
            <a:prstDash val="solid"/>
            <a:tailEnd type="triangle" w="sm" len="sm"/>
          </a:ln>
        </p:spPr>
      </p:cxnSp>
      <p:sp>
        <p:nvSpPr>
          <p:cNvPr id="28" name="inspect-caption">
            <a:extLst xmlns:a="http://schemas.openxmlformats.org/drawingml/2006/main">
              <a:ext uri="{FF2B5EF4-FFF2-40B4-BE49-F238E27FC236}">
                <a16:creationId xmlns:a16="http://schemas.microsoft.com/office/drawing/2014/main" id="{FCEEB26B-F5C2-467C-9A65-06F801D1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6B"/>
                </a:solidFill>
              </a:defRPr>
            </a:pPr>
            <a:r>
              <a:rPr sz="1050" b="0">
                <a:solidFill>
                  <a:srgbClr val="68716B"/>
                </a:solidFill>
              </a:rPr>
              <a:t>open a label</a:t>
            </a:r>
          </a:p>
        </p:txBody>
      </p:sp>
      <p:sp>
        <p:nvSpPr>
          <p:cNvPr id="29" name="demo-caption">
            <a:extLst xmlns:a="http://schemas.openxmlformats.org/drawingml/2006/main">
              <a:ext uri="{FF2B5EF4-FFF2-40B4-BE49-F238E27FC236}">
                <a16:creationId xmlns:a16="http://schemas.microsoft.com/office/drawing/2014/main" id="{879C81D4-96CB-4357-85B4-F2817CE0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577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6B"/>
                </a:solidFill>
              </a:defRPr>
            </a:pPr>
            <a:r>
              <a:rPr sz="1050" b="0">
                <a:solidFill>
                  <a:srgbClr val="68716B"/>
                </a:solidFill>
              </a:rPr>
              <a:t>Bundled demo output</a:t>
            </a:r>
          </a:p>
        </p:txBody>
      </p:sp>
      <p:sp>
        <p:nvSpPr>
          <p:cNvPr id="30" name="trace-caption">
            <a:extLst xmlns:a="http://schemas.openxmlformats.org/drawingml/2006/main">
              <a:ext uri="{FF2B5EF4-FFF2-40B4-BE49-F238E27FC236}">
                <a16:creationId xmlns:a16="http://schemas.microsoft.com/office/drawing/2014/main" id="{F532E20A-0D0F-4825-AEC2-DC6D14B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577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6B"/>
                </a:solidFill>
              </a:defRPr>
            </a:pPr>
            <a:r>
              <a:rPr sz="1050" b="0">
                <a:solidFill>
                  <a:srgbClr val="68716B"/>
                </a:solidFill>
              </a:rPr>
              <a:t>Raw text and model label stay visible</a:t>
            </a:r>
          </a:p>
        </p:txBody>
      </p:sp>
      <p:sp>
        <p:nvSpPr>
          <p:cNvPr id="31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319A651D-1327-4685-95EE-D6D93CB7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16B"/>
                </a:solidFill>
              </a:defRPr>
            </a:pPr>
            <a:r>
              <a:rPr sz="1050" b="1">
                <a:solidFill>
                  <a:srgbClr val="68716B"/>
                </a:solidFill>
              </a:rPr>
              <a:t>OFFLINE MODEL PIPELINE</a:t>
            </a:r>
          </a:p>
        </p:txBody>
      </p:sp>
      <p:sp>
        <p:nvSpPr>
          <p:cNvPr id="32" name="reddit-data">
            <a:extLst xmlns:a="http://schemas.openxmlformats.org/drawingml/2006/main">
              <a:ext uri="{FF2B5EF4-FFF2-40B4-BE49-F238E27FC236}">
                <a16:creationId xmlns:a16="http://schemas.microsoft.com/office/drawing/2014/main" id="{FAA3880B-AAED-4891-B706-B51ED01E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620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33" name="reddit-data-dot">
            <a:extLst xmlns:a="http://schemas.openxmlformats.org/drawingml/2006/main">
              <a:ext uri="{FF2B5EF4-FFF2-40B4-BE49-F238E27FC236}">
                <a16:creationId xmlns:a16="http://schemas.microsoft.com/office/drawing/2014/main" id="{AE2F98D3-EE93-4661-8B23-02C1077A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50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ddit-data-label">
            <a:extLst xmlns:a="http://schemas.openxmlformats.org/drawingml/2006/main">
              <a:ext uri="{FF2B5EF4-FFF2-40B4-BE49-F238E27FC236}">
                <a16:creationId xmlns:a16="http://schemas.microsoft.com/office/drawing/2014/main" id="{4F84B41C-ACC2-4578-AD51-D3A0A392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</a:defRPr>
            </a:pPr>
            <a:r>
              <a:rPr sz="1200" b="1">
                <a:solidFill>
                  <a:srgbClr val="17201B"/>
                </a:solidFill>
              </a:rPr>
              <a:t>Reddit labels</a:t>
            </a:r>
          </a:p>
        </p:txBody>
      </p:sp>
      <p:sp>
        <p:nvSpPr>
          <p:cNvPr id="35" name="reddit-data-detail">
            <a:extLst xmlns:a="http://schemas.openxmlformats.org/drawingml/2006/main">
              <a:ext uri="{FF2B5EF4-FFF2-40B4-BE49-F238E27FC236}">
                <a16:creationId xmlns:a16="http://schemas.microsoft.com/office/drawing/2014/main" id="{7AE9BBCF-9D53-4ECC-9993-52910DB2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95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</a:defRPr>
            </a:pPr>
            <a:r>
              <a:rPr sz="975" b="0">
                <a:solidFill>
                  <a:srgbClr val="68716B"/>
                </a:solidFill>
              </a:rPr>
              <a:t>source data</a:t>
            </a:r>
          </a:p>
        </p:txBody>
      </p:sp>
      <p:sp>
        <p:nvSpPr>
          <p:cNvPr id="36" name="dvc-prep">
            <a:extLst xmlns:a="http://schemas.openxmlformats.org/drawingml/2006/main">
              <a:ext uri="{FF2B5EF4-FFF2-40B4-BE49-F238E27FC236}">
                <a16:creationId xmlns:a16="http://schemas.microsoft.com/office/drawing/2014/main" id="{A36EFE7C-57EB-4959-944F-BA2A550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52800"/>
            <a:ext cx="11620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37" name="dvc-prep-dot">
            <a:extLst xmlns:a="http://schemas.openxmlformats.org/drawingml/2006/main">
              <a:ext uri="{FF2B5EF4-FFF2-40B4-BE49-F238E27FC236}">
                <a16:creationId xmlns:a16="http://schemas.microsoft.com/office/drawing/2014/main" id="{B847BBBD-509B-4099-9771-A52F3F7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vc-prep-label">
            <a:extLst xmlns:a="http://schemas.openxmlformats.org/drawingml/2006/main">
              <a:ext uri="{FF2B5EF4-FFF2-40B4-BE49-F238E27FC236}">
                <a16:creationId xmlns:a16="http://schemas.microsoft.com/office/drawing/2014/main" id="{2FA39DB0-41DC-42E5-A5F7-A15AB60B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290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</a:defRPr>
            </a:pPr>
            <a:r>
              <a:rPr sz="1200" b="1">
                <a:solidFill>
                  <a:srgbClr val="17201B"/>
                </a:solidFill>
              </a:rPr>
              <a:t>DVC stages</a:t>
            </a:r>
          </a:p>
        </p:txBody>
      </p:sp>
      <p:sp>
        <p:nvSpPr>
          <p:cNvPr id="39" name="dvc-prep-detail">
            <a:extLst xmlns:a="http://schemas.openxmlformats.org/drawingml/2006/main">
              <a:ext uri="{FF2B5EF4-FFF2-40B4-BE49-F238E27FC236}">
                <a16:creationId xmlns:a16="http://schemas.microsoft.com/office/drawing/2014/main" id="{09BDA346-F4EE-4950-BCB2-70ED08E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95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</a:defRPr>
            </a:pPr>
            <a:r>
              <a:rPr sz="975" b="0">
                <a:solidFill>
                  <a:srgbClr val="68716B"/>
                </a:solidFill>
              </a:rPr>
              <a:t>clean + split</a:t>
            </a:r>
          </a:p>
        </p:txBody>
      </p:sp>
      <p:sp>
        <p:nvSpPr>
          <p:cNvPr id="40" name="train-eval">
            <a:extLst xmlns:a="http://schemas.openxmlformats.org/drawingml/2006/main">
              <a:ext uri="{FF2B5EF4-FFF2-40B4-BE49-F238E27FC236}">
                <a16:creationId xmlns:a16="http://schemas.microsoft.com/office/drawing/2014/main" id="{76C01B28-EED0-4676-80D5-65D1FC6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52800"/>
            <a:ext cx="11620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41" name="train-eval-dot">
            <a:extLst xmlns:a="http://schemas.openxmlformats.org/drawingml/2006/main">
              <a:ext uri="{FF2B5EF4-FFF2-40B4-BE49-F238E27FC236}">
                <a16:creationId xmlns:a16="http://schemas.microsoft.com/office/drawing/2014/main" id="{2FEC367D-5829-494F-AD05-9A96BFF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76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rain-eval-label">
            <a:extLst xmlns:a="http://schemas.openxmlformats.org/drawingml/2006/main">
              <a:ext uri="{FF2B5EF4-FFF2-40B4-BE49-F238E27FC236}">
                <a16:creationId xmlns:a16="http://schemas.microsoft.com/office/drawing/2014/main" id="{826CDEEF-C962-4D3A-9CEA-6E71B395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</a:defRPr>
            </a:pPr>
            <a:r>
              <a:rPr sz="1200" b="1">
                <a:solidFill>
                  <a:srgbClr val="17201B"/>
                </a:solidFill>
              </a:rPr>
              <a:t>Train / eval</a:t>
            </a:r>
          </a:p>
        </p:txBody>
      </p:sp>
      <p:sp>
        <p:nvSpPr>
          <p:cNvPr id="43" name="train-eval-detail">
            <a:extLst xmlns:a="http://schemas.openxmlformats.org/drawingml/2006/main">
              <a:ext uri="{FF2B5EF4-FFF2-40B4-BE49-F238E27FC236}">
                <a16:creationId xmlns:a16="http://schemas.microsoft.com/office/drawing/2014/main" id="{81C6D278-9EBB-4D27-8072-BEC507C4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95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</a:defRPr>
            </a:pPr>
            <a:r>
              <a:rPr sz="975" b="0">
                <a:solidFill>
                  <a:srgbClr val="68716B"/>
                </a:solidFill>
              </a:rPr>
              <a:t>tracked runs</a:t>
            </a:r>
          </a:p>
        </p:txBody>
      </p:sp>
      <p:sp>
        <p:nvSpPr>
          <p:cNvPr id="44" name="stored-artifacts">
            <a:extLst xmlns:a="http://schemas.openxmlformats.org/drawingml/2006/main">
              <a:ext uri="{FF2B5EF4-FFF2-40B4-BE49-F238E27FC236}">
                <a16:creationId xmlns:a16="http://schemas.microsoft.com/office/drawing/2014/main" id="{DDF346B1-D86E-43B1-9ADA-D8344D2A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11811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45" name="stored-artifacts-dot">
            <a:extLst xmlns:a="http://schemas.openxmlformats.org/drawingml/2006/main">
              <a:ext uri="{FF2B5EF4-FFF2-40B4-BE49-F238E27FC236}">
                <a16:creationId xmlns:a16="http://schemas.microsoft.com/office/drawing/2014/main" id="{B116E195-B1D3-4920-91FA-1DAFCD04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tored-artifacts-label">
            <a:extLst xmlns:a="http://schemas.openxmlformats.org/drawingml/2006/main">
              <a:ext uri="{FF2B5EF4-FFF2-40B4-BE49-F238E27FC236}">
                <a16:creationId xmlns:a16="http://schemas.microsoft.com/office/drawing/2014/main" id="{CF730970-6265-43BB-9D99-3AB7D68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B"/>
                </a:solidFill>
              </a:defRPr>
            </a:pPr>
            <a:r>
              <a:rPr sz="1200" b="1">
                <a:solidFill>
                  <a:srgbClr val="17201B"/>
                </a:solidFill>
              </a:rPr>
              <a:t>Artifacts</a:t>
            </a:r>
          </a:p>
        </p:txBody>
      </p:sp>
      <p:sp>
        <p:nvSpPr>
          <p:cNvPr id="47" name="stored-artifacts-detail">
            <a:extLst xmlns:a="http://schemas.openxmlformats.org/drawingml/2006/main">
              <a:ext uri="{FF2B5EF4-FFF2-40B4-BE49-F238E27FC236}">
                <a16:creationId xmlns:a16="http://schemas.microsoft.com/office/drawing/2014/main" id="{01AB5046-3543-4567-A475-6B4C0C0B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6B"/>
                </a:solidFill>
              </a:defRPr>
            </a:pPr>
            <a:r>
              <a:rPr sz="975" b="0">
                <a:solidFill>
                  <a:srgbClr val="68716B"/>
                </a:solidFill>
              </a:rPr>
              <a:t>model + vectorizer</a:t>
            </a:r>
          </a:p>
        </p:txBody>
      </p:sp>
      <p:cxnSp>
        <p:nvCxnSpPr>
          <p:cNvPr id="105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562100" y="3762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68716B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2857500" y="3762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68716B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4152900" y="37623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68716B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4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4648200" y="2552700"/>
            <a:ext cx="2286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431">
            <a:solidFill>
              <a:srgbClr val="1F7A4D"/>
            </a:solidFill>
            <a:prstDash val="solid"/>
            <a:tailEnd type="triangle" w="sm" len="sm"/>
          </a:ln>
        </p:spPr>
      </p:cxnSp>
      <p:sp>
        <p:nvSpPr>
          <p:cNvPr id="52" name="artifact-link-label">
            <a:extLst xmlns:a="http://schemas.openxmlformats.org/drawingml/2006/main">
              <a:ext uri="{FF2B5EF4-FFF2-40B4-BE49-F238E27FC236}">
                <a16:creationId xmlns:a16="http://schemas.microsoft.com/office/drawing/2014/main" id="{904CDE0F-0C39-42F4-80D5-9AA8D35A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7A4D"/>
                </a:solidFill>
              </a:defRPr>
            </a:pPr>
            <a:r>
              <a:rPr sz="975" b="0">
                <a:solidFill>
                  <a:srgbClr val="1F7A4D"/>
                </a:solidFill>
              </a:rPr>
              <a:t>loaded at runtime</a:t>
            </a:r>
          </a:p>
        </p:txBody>
      </p:sp>
      <p:sp>
        <p:nvSpPr>
          <p:cNvPr id="53" name="evidence-boundary">
            <a:extLst xmlns:a="http://schemas.openxmlformats.org/drawingml/2006/main">
              <a:ext uri="{FF2B5EF4-FFF2-40B4-BE49-F238E27FC236}">
                <a16:creationId xmlns:a16="http://schemas.microsoft.com/office/drawing/2014/main" id="{B93337A2-7BBC-4F6C-9990-C994906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442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E5E2"/>
          </a:solidFill>
          <a:ln xmlns:a="http://schemas.openxmlformats.org/drawingml/2006/main" w="9525">
            <a:solidFill>
              <a:srgbClr val="D9B7B2"/>
            </a:solidFill>
            <a:prstDash val="solid"/>
          </a:ln>
        </p:spPr>
      </p:sp>
      <p:sp>
        <p:nvSpPr>
          <p:cNvPr id="54" name="boundary-accent">
            <a:extLst xmlns:a="http://schemas.openxmlformats.org/drawingml/2006/main">
              <a:ext uri="{FF2B5EF4-FFF2-40B4-BE49-F238E27FC236}">
                <a16:creationId xmlns:a16="http://schemas.microsoft.com/office/drawing/2014/main" id="{D1A6F99B-28C9-413D-A4CE-93663674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66675" cy="781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950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F4DBE595-BAA3-4FB9-871D-F310DE0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049"/>
                </a:solidFill>
              </a:defRPr>
            </a:pPr>
            <a:r>
              <a:rPr sz="1125" b="1">
                <a:solidFill>
                  <a:srgbClr val="A95049"/>
                </a:solidFill>
              </a:rPr>
              <a:t>EVIDENCE BOUNDARY</a:t>
            </a:r>
          </a:p>
        </p:txBody>
      </p:sp>
      <p:sp>
        <p:nvSpPr>
          <p:cNvPr id="56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960269C0-A395-44E5-917D-0D4E7294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9077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B"/>
                </a:solidFill>
              </a:defRPr>
            </a:pPr>
            <a:r>
              <a:rPr sz="1275" b="0">
                <a:solidFill>
                  <a:srgbClr val="17201B"/>
                </a:solidFill>
              </a:rPr>
              <a:t>Screenshots show bundled demo fixtures. The classifier is trained and evaluated on Reddit labels, then applied to YouTube comments; cross-domain performance has not been measured.</a:t>
            </a:r>
          </a:p>
        </p:txBody>
      </p:sp>
      <p:sp>
        <p:nvSpPr>
          <p:cNvPr id="5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47BE664-2652-4E3F-8B3D-DFAEDAB4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134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6B"/>
                </a:solidFill>
              </a:defRPr>
            </a:pPr>
            <a:r>
              <a:rPr sz="975" b="0">
                <a:solidFill>
                  <a:srgbClr val="68716B"/>
                </a:solidFill>
              </a:rPr>
              <a:t>Maintained paths: Flask API · DVC pipeline · TF-IDF vectorizer · LightGBM model · Manifest V3 extension</a:t>
            </a:r>
          </a:p>
        </p:txBody>
      </p:sp>
    </p:spTree>
    <p:extLst>
      <p:ext uri="{BB962C8B-B14F-4D97-AF65-F5344CB8AC3E}">
        <p14:creationId xmlns:p14="http://schemas.microsoft.com/office/powerpoint/2010/main" val="178848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2026-07-20T06:39:33.4160000Z</dcterms:created>
  <dcterms:modified xsi:type="dcterms:W3CDTF">2026-07-20T06:39:33.4160000Z</dcterms:modified>
</coreProperties>
</file>